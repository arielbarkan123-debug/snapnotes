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Monthly Net Profit/(Loss) by User Scale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Freemium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100</c:v>
                  </c:pt>
                  <c:pt idx="2">
                    <c:v>500</c:v>
                  </c:pt>
                  <c:pt idx="3">
                    <c:v>1K</c:v>
                  </c:pt>
                  <c:pt idx="4">
                    <c:v>5K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-3103</c:v>
                </c:pt>
                <c:pt idx="1">
                  <c:v>-4085</c:v>
                </c:pt>
                <c:pt idx="2">
                  <c:v>-7924</c:v>
                </c:pt>
                <c:pt idx="3">
                  <c:v>-17772</c:v>
                </c:pt>
                <c:pt idx="4">
                  <c:v>-58949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100</c:v>
                  </c:pt>
                  <c:pt idx="2">
                    <c:v>500</c:v>
                  </c:pt>
                  <c:pt idx="3">
                    <c:v>1K</c:v>
                  </c:pt>
                  <c:pt idx="4">
                    <c:v>5K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-2953</c:v>
                </c:pt>
                <c:pt idx="1">
                  <c:v>-3785</c:v>
                </c:pt>
                <c:pt idx="2">
                  <c:v>-5926</c:v>
                </c:pt>
                <c:pt idx="3">
                  <c:v>-14772</c:v>
                </c:pt>
                <c:pt idx="4">
                  <c:v>-43949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Pay-per-Use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100</c:v>
                  </c:pt>
                  <c:pt idx="2">
                    <c:v>500</c:v>
                  </c:pt>
                  <c:pt idx="3">
                    <c:v>1K</c:v>
                  </c:pt>
                  <c:pt idx="4">
                    <c:v>5K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-3053</c:v>
                </c:pt>
                <c:pt idx="1">
                  <c:v>-3985</c:v>
                </c:pt>
                <c:pt idx="2">
                  <c:v>-7822</c:v>
                </c:pt>
                <c:pt idx="3">
                  <c:v>-16772</c:v>
                </c:pt>
                <c:pt idx="4">
                  <c:v>-53949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140</c:v>
                </c:pt>
                <c:pt idx="1">
                  <c:v>406</c:v>
                </c:pt>
                <c:pt idx="2">
                  <c:v>680</c:v>
                </c:pt>
                <c:pt idx="3">
                  <c:v>994</c:v>
                </c:pt>
                <c:pt idx="4">
                  <c:v>1326</c:v>
                </c:pt>
                <c:pt idx="5">
                  <c:v>1385</c:v>
                </c:pt>
                <c:pt idx="6">
                  <c:v>1444</c:v>
                </c:pt>
                <c:pt idx="7">
                  <c:v>1505</c:v>
                </c:pt>
                <c:pt idx="8">
                  <c:v>1566</c:v>
                </c:pt>
                <c:pt idx="9">
                  <c:v>1851</c:v>
                </c:pt>
                <c:pt idx="10">
                  <c:v>1918</c:v>
                </c:pt>
                <c:pt idx="11">
                  <c:v>1569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Costs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11504</c:v>
                </c:pt>
                <c:pt idx="1">
                  <c:v>3936</c:v>
                </c:pt>
                <c:pt idx="2">
                  <c:v>4072</c:v>
                </c:pt>
                <c:pt idx="3">
                  <c:v>4225</c:v>
                </c:pt>
                <c:pt idx="4">
                  <c:v>3725</c:v>
                </c:pt>
                <c:pt idx="5">
                  <c:v>3737</c:v>
                </c:pt>
                <c:pt idx="6">
                  <c:v>3622</c:v>
                </c:pt>
                <c:pt idx="7">
                  <c:v>3632</c:v>
                </c:pt>
                <c:pt idx="8">
                  <c:v>3642</c:v>
                </c:pt>
                <c:pt idx="9">
                  <c:v>4165</c:v>
                </c:pt>
                <c:pt idx="10">
                  <c:v>4185</c:v>
                </c:pt>
                <c:pt idx="11">
                  <c:v>3652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NoteSnap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 — Budget &amp; Cash Flow Proposal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Executive Management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convert handwritten notes, photos, and documents into effective study material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passive — they store notes, not teach from them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combines OCR, AI tutoring, spaced repetition, and exam prep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NoteSnap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 of notes → AI generates interactive courses, quizzes, and study guides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images, PDFs, PPTX, DOCX + Hebrew/English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API routes: homework tutor, exams, SRS flashcards, walkthroughs, diagrams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EdTech market: $340B by 2027 (CAGR 16.3%)  —  AI tutoring segment growing 25%+ YoY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at a Glance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24688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Upload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PDF, PPTX, DOCX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AI extraction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280160"/>
            <a:ext cx="2468880" cy="54864"/>
          </a:xfrm>
          <a:prstGeom prst="rect">
            <a:avLst/>
          </a:prstGeom>
          <a:solidFill>
            <a:srgbClr val="2C4A7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Course Gen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courses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source material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28016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Help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visual walkthroughs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01752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Prep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exams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past-exam analysis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30175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3017520"/>
            <a:ext cx="24688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SRS Flashcards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FSRS algorithm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017520"/>
            <a:ext cx="24688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 Diagrams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math 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TikZ, Recharts, Mermaid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Cost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cost by active user count (mixed usage: 40% light, 40% medium, 20% heavy)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AI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TOTAL/Month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$12,922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$23,772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$93,949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420624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42062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 is the #1 cost driver (65-70% of total). Cost scales linearly with users. Key lever: usage caps, caching, and Haiku for simple tasks can reduce AI costs by 30-40%.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Revenue Strategies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3487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487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+ $9.99 Basic + $19.99 Pro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free / 25% Basic / 15% Pro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2618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$4,998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320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@500 users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031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22631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263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2176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trial → $9.99 or $19.99/mo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176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convert: 60% Basic, 40% Pro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21762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$6,996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32320" y="2606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@500 users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31775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177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164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Pay-per-Use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916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packs ($4.99 / $9.99 / $24.99)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$3-25/mo based on activity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30906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$5,100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3232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@500 users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393192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5840" y="40919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91640" y="4005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6916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 — growth &amp; fundraising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MAU, engagement, valuation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40050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132320" y="4434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@500 users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Start with Model B (Subscription) — highest ARPU, clearest path to profitability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 &amp; Break-Even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18872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760720" y="1188720"/>
            <a:ext cx="29260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 Point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~250-300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paying subscribers needed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760720" y="2743200"/>
            <a:ext cx="2926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3246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cost/user: $3.69-$28.19/mo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(Sub): $13.99/mo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-30% to +25%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50% conversion rate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12-Month Cash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 (B) — 0 to 500 active users, 50% paying conversion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371600"/>
            <a:ext cx="24688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Revenue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1627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$14,784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17920" y="2148840"/>
            <a:ext cx="24688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2194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Costs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2404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$54,097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24688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Net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($39,313)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17920" y="3703320"/>
            <a:ext cx="24688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0" y="3749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39593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$9,200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19659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41732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Pre-Launch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Landing page,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Payments,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audit, QA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188720"/>
            <a:ext cx="1965960" cy="54864"/>
          </a:xfrm>
          <a:prstGeom prst="rect">
            <a:avLst/>
          </a:prstGeom>
          <a:solidFill>
            <a:srgbClr val="2C4A7C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417320"/>
            <a:ext cx="640080" cy="640080"/>
          </a:xfrm>
          <a:prstGeom prst="ellipse">
            <a:avLst/>
          </a:prstGeom>
          <a:solidFill>
            <a:srgbClr val="2C4A7C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4320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Launch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2514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28803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beta users,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prep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5394960" y="14173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89204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Launch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2514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8803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launch, PR,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Google/Social ads,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outreach,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tutorial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03720" y="118872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11887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7543800" y="14173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5438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04088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40880" y="2514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3-12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86600" y="28803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Localization,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640080" cy="54864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costs exceed budget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caps, caching, Haiku for simple tasks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73736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37360"/>
            <a:ext cx="640080" cy="54864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conversion to paid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pricing, strong onboarding, annual discount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37744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377440"/>
            <a:ext cx="640080" cy="54864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burnout (solo)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key contractor early, automate ops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0175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017520"/>
            <a:ext cx="64008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outages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queuing, graceful degradation, cached fallback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6576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657600"/>
            <a:ext cx="64008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3736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launch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Hebrew+English niche, community moat, fast iteration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29768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297680"/>
            <a:ext cx="64008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3736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compliance gaps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0" y="4297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review, EU data residency, privacy-by-design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1828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25603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$9,200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design, security, QA, launch PR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560320" cy="1828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Runway (6 mo)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$4,400/mo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+ AI + marketing + contractors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560320" cy="1828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Year 1 Budget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$62,000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+ 12 months operating costs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Approve budget and pricing model (Subscription recommended)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Kick off Phase 1 pre-launch immediately (Week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First 50 beta users within 3 weeks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NoteSnap Product Launch — Executive Budget Approval</dc:title>
  <dc:subject>PptxGenJS Presentation</dc:subject>
  <dc:creator>NoteSnap</dc:creator>
  <cp:lastModifiedBy>NoteSnap</cp:lastModifiedBy>
  <cp:revision>1</cp:revision>
  <dcterms:created xsi:type="dcterms:W3CDTF">2026-03-27T11:54:39Z</dcterms:created>
  <dcterms:modified xsi:type="dcterms:W3CDTF">2026-03-27T11:54:39Z</dcterms:modified>
</cp:coreProperties>
</file>